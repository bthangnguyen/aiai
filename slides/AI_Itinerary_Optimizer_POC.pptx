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AI-Driven Dynamic</a:t>
            </a:r>
            <a:br/>
            <a:r>
              <a:t>Itinerary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Hệ thống tối ưu lịch trình du lịch động bằng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Segoe UI"/>
              </a:defRPr>
            </a:pPr>
            <a:r>
              <a:t>NLP  •  Semantic Search  •  Multi-day Route Optimization  •  Real-time Re-routing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GVHD: [Tên GVHD]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Team: [Tên nhóm]  •  Trường: [Tên trường]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286000"/>
            <a:ext cx="3657600" cy="3200400"/>
          </a:xfrm>
          <a:prstGeom prst="round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📍 Huế, Vietnam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▸ Đại Nội Huế  ·  08:00–10:00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▸ Chùa Thiên Mụ  ·  10:30–11:30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▸ Sông Hương  ·  14:00–16:00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▸ Chợ Đông Ba  ·  16:30–17:30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Total: 24.5 km  ·  350k₫  ·  3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Travel Planning is Hard?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Người dùng đang gặp quá nhiều rào cản khi tự lên lịch trình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❌  Quá nhiều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Google Maps + Blogs + Booking + Weather + TikTok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02920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❌  Lịch trình thủ công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Di chuyển vòng vèo, trùng khu vực, không cân đối thời gian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02920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❌  Không thích ứng realtime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Trễ lịch, huỷ điểm đến, thời tiết xấu → phải làm lại từ đầu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5029200" cy="3657600"/>
          </a:xfrm>
          <a:prstGeom prst="roundRect">
            <a:avLst/>
          </a:prstGeom>
          <a:solidFill>
            <a:srgbClr val="1E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Hệ quả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⏱️  Mất hàng giờ điều phối thủ công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😤  Trải nghiệm kém liền mạch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💸  Bỏ lỡ POI quan trọng hoặc vượt ngân sách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🔄  Không có cơ chế cập nhật route nhanh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→ Existing itinerary tools are static, not adaptive.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Existing Solutions —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So sánh các giải pháp hiện có với hệ thống đề xuất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Google Maps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TripAdvisor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Layla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Traveloka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NL Planning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Route 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923C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923C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Multi-day Plan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923C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Dynamic Re-route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Semantic Search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923C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Budget Constraint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717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B923C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DE8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Existing systems generate suggestions.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38BDF8"/>
                </a:solidFill>
                <a:latin typeface="Segoe UI"/>
              </a:defRPr>
            </a:pPr>
            <a:r>
              <a:t>We optimize executable itineraries.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Từ yêu cầu mơ hồ đến lịch trình tối ưu, thực thi được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📝 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Messy travel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03120"/>
            <a:ext cx="24688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🤖  AI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NLP intent parsing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4688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⚡ 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CVRPTW multi-day solving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103120"/>
            <a:ext cx="24688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🗺️ 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Smart executable itinerary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14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1. Tự động tạo lịch trình du lịch từ ngôn ngữ tự nhiên (Tiếng Việt)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2. Tối ưu đa ngày với ràng buộc thực tế (thời gian, ngân sách, khoảng cách)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3. Hỗ trợ tái tối ưu động (JIT Re-routing) khi phát sinh sự cố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4. Cải thiện trải nghiệm du lịch cá nhân hóa qua Semantic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Proposed 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End-to-end pipeline: từ prompt đến lịch trình tối ưu trên bản đồ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46304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46304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  <a:latin typeface="Segoe UI"/>
              </a:defRPr>
            </a:pPr>
            <a:r>
              <a:t>User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NL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286000"/>
            <a:ext cx="146304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2286000"/>
            <a:ext cx="14630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468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NLP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LLMExtractorService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286000"/>
            <a:ext cx="146304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2286000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468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Semantic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pgvector + embedding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286000"/>
            <a:ext cx="146304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286000"/>
            <a:ext cx="14630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468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Spatial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PostGIS radius + 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286000"/>
            <a:ext cx="146304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2286000"/>
            <a:ext cx="146304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468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CVRPTW 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OR-Tools optimization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286000"/>
            <a:ext cx="146304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286000"/>
            <a:ext cx="14630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468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MapTimeline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Mapbox + Day tabs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2286000"/>
            <a:ext cx="1463040" cy="1828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2286000"/>
            <a:ext cx="146304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24688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7171"/>
                </a:solidFill>
                <a:latin typeface="Segoe UI"/>
              </a:defRPr>
            </a:pPr>
            <a:r>
              <a:t>JIT Re-route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200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GPS → Virtual Depot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899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7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3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1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923C"/>
                </a:solidFill>
                <a:latin typeface="Segoe UI"/>
              </a:defRPr>
            </a:pPr>
            <a:r>
              <a:t>Layer 5 — Mobile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8BDF8"/>
                </a:solidFill>
                <a:latin typeface="Segoe UI"/>
              </a:defRPr>
            </a:pPr>
            <a:r>
              <a:t>Layer 2-3 — Gateway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Layer 4 — Optimization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8BDF8"/>
                </a:solidFill>
                <a:latin typeface="Segoe UI"/>
              </a:defRPr>
            </a:pPr>
            <a:r>
              <a:t>Layer 5 — Mobile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Ai sẽ sử dụng hệ thống này?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51760" cy="3657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👨‍👩‍👧  Casual Travelers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Không muốn tự lên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Thích có sẵn itinerary tối ưu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Đi gia đình, nhóm bạn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103120"/>
            <a:ext cx="2651760" cy="3657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103120"/>
            <a:ext cx="26517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💸  Budget Travelers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Muốn tối ưu chi phí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So sánh entrance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Kiểm soát ngân sách từng ngày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2651760" cy="3657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26517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🧳  Smart Independents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Muốn itinerary cá nhân hóa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Cần realtime re-route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Du lịch tự túc chuyên nghiệp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103120"/>
            <a:ext cx="2651760" cy="3657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2103120"/>
            <a:ext cx="26517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Segoe UI"/>
              </a:defRPr>
            </a:pPr>
            <a:r>
              <a:t>🏃  Time-constrained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01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Du lịch ngắn ngày (1-3 ngày)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Cần tối ưu mỗi phút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Không muốn lãng phí thời gian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 1: Natural Language → Structured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LLMExtractorService trích xuất intent thành LLMDataContract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💬 User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"Tôi muốn đi Đại Nội và dạo bờ sông Hương,</a:t>
            </a:r>
            <a:br/>
            <a:r>
              <a:t>3 ngày, ngân sách 1 triệu"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Segoe UI"/>
              </a:defRPr>
            </a:pPr>
            <a:r>
              <a:t>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0D1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📋 LLMDataContract (Output)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onsolas"/>
              </a:defRPr>
            </a:pPr>
            <a:r>
              <a:t>{</a:t>
            </a:r>
            <a:br/>
            <a:r>
              <a:t>  "num_days": 3,</a:t>
            </a:r>
            <a:br/>
            <a:r>
              <a:t>  "budget_max": 1000000,</a:t>
            </a:r>
            <a:br/>
            <a:r>
              <a:t>  "locked_pois": ["Đại Nội", "Sông Hương"],</a:t>
            </a:r>
            <a:br/>
            <a:r>
              <a:t>  "tags": ["culture", "relax", "scenic"],</a:t>
            </a:r>
            <a:br/>
            <a:r>
              <a:t>  "preferred_transport": "motorbike"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1. User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Ngôn ngữ tự nhiên (Tiếng Việt)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8036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2. LLM Extractor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Gemini API → JSON contract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4904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3. Embedding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Vector hóa sở thích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61772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4. Spatial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PostGIS + pgvector hybrid 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48640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5. Layer 4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OR-Tools CVRPTW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 2: Spatial + Semantic POI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Hybrid search kết hợp PostGIS không gian + pgvector ngữ nghĩa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371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PostgreSQL + PostGIS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Lọc theo bán kính từ khách sạn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029200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1371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pgvector 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Semantic similarity matching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029200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1371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Hybrid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Kết hợp spatial + semantic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5029200" cy="868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1371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Priority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Locked POI → force include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🎯 Filter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📍 Distance — bán kính từ hotel (km)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18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⭐ Rating — đánh giá từ 3.5+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027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🏷️ Category — culture, food, nature...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9867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🕐 Opening Hours — lọc theo giờ mở cửa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70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🔒 Locked POI — user chỉ định → ưu tiên tuyệt đối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🧠 Semantic — vector similarity với sở thích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 3: AI Route Optimization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2-Stage pipeline: POI Allocation → CVRPTW Solving bằng OR-Tools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1828800"/>
          </a:xfrm>
          <a:prstGeom prst="round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Stage 1 — POI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Cluster POIs theo vùng địa lý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443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Phân bổ đều vào N ngày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369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Đảm bảo locked POI được giữ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295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Cân bằng workload mỗi ngày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ADE80"/>
                </a:solidFill>
                <a:latin typeface="Segoe UI"/>
              </a:defRPr>
            </a:pPr>
            <a:r>
              <a:t>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029200" cy="1828800"/>
          </a:xfrm>
          <a:prstGeom prst="roundRect">
            <a:avLst/>
          </a:prstGeom>
          <a:solidFill>
            <a:srgbClr val="0F1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Stage 2 — CVRPTW 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OR-Tools CP-SAT / Routing 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21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Minimize: travel time + penalties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61441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Ràng buộc: time window, budget,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90702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Output: ordered route tối ưu cho mỗi ngày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03120"/>
            <a:ext cx="5029200" cy="4206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⚙️ Optimization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Time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090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Mỗi POI có giờ mở/đóng cửa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Travel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639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OSRM matrix → thời gian di chuyển thực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Visit 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187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Thời gian tham quan ước tính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36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Tổng entrance fee ≤ budget_max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Multi-day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285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Chia POI ra N ngày, mỗi ngày một 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✅ Depot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833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Xuất phát &amp; kết thúc tại hotel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Mathematical Optimization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OSRM Matrix → Cost Model → OR-Tools Solver → Optimal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0116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OSRM</a:t>
            </a:r>
            <a:br/>
            <a:r>
              <a:t>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Duration +</a:t>
            </a:r>
            <a:br/>
            <a:r>
              <a:t>Distance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2860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2286000"/>
            <a:ext cx="20116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Cost</a:t>
            </a:r>
            <a:br/>
            <a:r>
              <a:t>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Travel cost</a:t>
            </a:r>
            <a:br/>
            <a:r>
              <a:t>+ Penalties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2860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2286000"/>
            <a:ext cx="20116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Constraint</a:t>
            </a:r>
            <a:br/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Time windows</a:t>
            </a:r>
            <a:br/>
            <a:r>
              <a:t>Budget caps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22860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8040" y="2286000"/>
            <a:ext cx="201168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OR-Tools</a:t>
            </a:r>
            <a:br/>
            <a:r>
              <a:t>Solver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CVRPTW</a:t>
            </a:r>
            <a:br/>
            <a:r>
              <a:t>optimize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2286000"/>
            <a:ext cx="2011680" cy="1645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2286000"/>
            <a:ext cx="20116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2468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Optimal</a:t>
            </a:r>
            <a:br/>
            <a:r>
              <a:t>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Ordered POIs</a:t>
            </a:r>
            <a:br/>
            <a:r>
              <a:t>per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51560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Objective Function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Minimize:  Σ (travel_time[i][j] × x[i][j])  +  Σ (penalty × dropped[k])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onsolas"/>
              </a:defRPr>
            </a:pPr>
            <a:r>
              <a:t>Subject to:  time_window, capacity, budget, visit_duration, depot_return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 4: Just-in-Time Re-routing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Tái tối ưu lịch trình ngay khi user lệch kế hoạch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🕐  User arrives 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Trễ 45 phút so với kế hoạch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Segoe UI"/>
              </a:defRPr>
            </a:pPr>
            <a:r>
              <a:t>❌  Skip attraction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Bỏ qua Lăng Khải Định (hết giờ mở cửa)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📍  GPS → Virtual Depot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Vị trí hiện tại trở thành điểm xuất phát mới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⚡  Re-optimize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01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Layer 4 solve lại phần còn lại (time_limit=15s)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5029200" cy="7772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✅  Updated itinerary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70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Route mới tối ưu cho thời gian còn lại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011680"/>
            <a:ext cx="5029200" cy="4389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🔌 API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1. Mobile → GPS + remaining_poi_ids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90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2. POST /v1/trip/re_route (Gateway)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38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3. Gateway → build ReRouteRequest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7856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4. POST /re-route (Layer 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133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5. Layer 4 → Virtual Depot + solve_day()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6. Response → TravelItineraryDay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828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7. Mobile → merge day + update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 5: Real-time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SSE streaming + Push notification + Background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56616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5661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📡 SSE Streaming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Server-Sent Events từ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73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Event: l2_done → l3_done → l4_result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210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Hook: useTripPipeline()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684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Cập nhật UI realtime trên Loading screen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103120"/>
            <a:ext cx="356616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103120"/>
            <a:ext cx="35661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🔔 Push 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expo-notifications local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73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"Hành trình đã sẵn sàng!"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6210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Trigger khi pipeline L4 hoàn thành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9684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Auto-navigate sang MapTimeline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103120"/>
            <a:ext cx="356616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103120"/>
            <a:ext cx="35661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📍 Background 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expo-location background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73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Track mỗi 100m di chuyển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210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Nền tảng cho auto-trigger reroute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684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Geofence detection (future)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Smart MapTimeline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Mapbox route + Day tabs + Summary bar + Cost estimation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5176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🗺️ Mapbox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Route GeoJSON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POI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User 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103120"/>
            <a:ext cx="265176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103120"/>
            <a:ext cx="26517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📅 Day Tabs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Ngày 1 / Ngày 2 / Ngày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Số điểm + chi phí/ngày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Filter timeline theo ngày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265176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26517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📊 Summary 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Tổng stops · km · thời gian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Est. Cost tổng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FlyTo camera animation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103120"/>
            <a:ext cx="265176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2103120"/>
            <a:ext cx="26517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🔄 Re-route 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Chọn POI muốn bỏ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Xác nhận re-route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• BottomSheet gesture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Tech: Expo React Native + TypeScript  •  @rnmapbox/maps  •  @gorhom/bottom-sheet  •  react-native-reanimated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Kiến trúc phân lớp 5-Layer với separation of concerns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828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Layer 5 —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Expo React Native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Mapbox, BottomSheet, SSE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TripService API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Expo React Native + TypeScript  •  Mapbox, BottomSheet, SSE client  •  TripService API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051560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828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Layer 2-3 — Gateway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FastAPI (Python)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LLMExtractor, SpatialFilter, EmbeddingService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SSE streaming + rate limiting (slowapi)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375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FastAPI (Python)  •  LLMExtractor, SpatialFilter, EmbeddingService  •  SSE streaming + rate limiting (slowapi)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51560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18288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Layer 4 —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FastAPI (Python)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TravelPlanService: Allocator + 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OR-Tools CVRPTW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26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FastAPI (Python)  •  TravelPlanService: Allocator + Solver  •  OR-Tools CVRPTW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77840"/>
            <a:ext cx="1051560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577840"/>
            <a:ext cx="1828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OSRM (routing matrix) + Haversine 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PostgreSQL + PostGIS + pgvector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SQLite distance cache • Docker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7150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OSRM (routing matrix) + Haversine fallback  •  PostgreSQL + PostGIS + pgvector  •  SQLite distance cache • 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251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End-to-End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Sequence: Request → Extract → Search → Optimize → 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560320"/>
            <a:ext cx="1371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560320"/>
            <a:ext cx="13716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User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prompt + hotel +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2560320"/>
            <a:ext cx="1371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256032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08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LLM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576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intent → LLMDataContract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1371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256032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108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6576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vector hóa preferences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560320"/>
            <a:ext cx="1371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256032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Spatial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6576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PostGIS + pgvector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560320"/>
            <a:ext cx="1371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560320"/>
            <a:ext cx="137160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08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Build Payload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576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Layer 4 format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2560320"/>
            <a:ext cx="1371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9520" y="2560320"/>
            <a:ext cx="13716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108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6576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OR-Tools CVRPTW solve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2560320"/>
            <a:ext cx="1371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2560320"/>
            <a:ext cx="13716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108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SSE Stream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6576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progress events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2560320"/>
            <a:ext cx="1371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15600" y="256032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704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31089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UI Rendering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36576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MapTimeline display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API Endpoints (verified from codebase):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onsolas"/>
              </a:defRPr>
            </a:pPr>
            <a:r>
              <a:t>POST /v1/trip/plan_trip_stream  •  POST /v1/trip/re_route  •  POST /plan  •  POST /re-route  •  GET /health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Lý do lựa chọn từng công nghệ trong hệ thống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219456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03120"/>
            <a:ext cx="21945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API nhanh, async, rõ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50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Robust RDBMS cho POI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2103120"/>
            <a:ext cx="219456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2103120"/>
            <a:ext cx="21945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AI /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Gemini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Intent extraction (NLP)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pgvector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950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Semantic similarity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103120"/>
            <a:ext cx="219456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2103120"/>
            <a:ext cx="21945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OR-Tools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CVRPTW solver mạnh mẽ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OSRM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950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Real-world travel time matrix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103120"/>
            <a:ext cx="219456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80" y="2103120"/>
            <a:ext cx="21945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Native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Cross-platform mobile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Mapbox GL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950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Interactive map rendering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2103120"/>
            <a:ext cx="2194560" cy="38404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2103120"/>
            <a:ext cx="219456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Infra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127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Container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SSE + Notification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9502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Realtime experience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Fault Tolerance &amp; Fallback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Hệ thống luôn trả kết quả — kể cả khi có lỗi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5176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🗺️ OSRM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→ Haversine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Độ chính xác thấp hơn</a:t>
            </a:r>
            <a:br/>
            <a:r>
              <a:t>nhưng vẫn có kết quả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65176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103120"/>
            <a:ext cx="26517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🤖 LLM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→ Default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Dùng tags mặc định</a:t>
            </a:r>
            <a:br/>
            <a:r>
              <a:t>thay vì crash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65176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517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⏱️ Solver Timeout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→ Best feasible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Trả kết quả tốt nhất</a:t>
            </a:r>
            <a:br/>
            <a:r>
              <a:t>trong time_limit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103120"/>
            <a:ext cx="265176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103120"/>
            <a:ext cx="26517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🌐 Slow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→ Rate limiting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slowapi giới hạn request</a:t>
            </a:r>
            <a:br/>
            <a:r>
              <a:t>tránh quá tải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Goal: Ensure robust itinerary generation under all conditions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Demo: Example Journey — 2 ngày Huế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Prompt: "2 ngày ở Huế, thích văn hóa, budget thấp"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029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📅 Ngày 1 — Văn hóa &amp; Di tích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08:00  Đại Nội Huế (150k₫, 2h)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10:30  Chùa Thiên Mụ (Free, 1h)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12:00  Cơm Hến Bà Lý (30k₫, 45min)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14:00  Lăng Tự Đức (100k₫, 1.5h)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16:00  Cafe Muối Huế (25k₫, 45min)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50292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50292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📅 Ngày 2 — Thiên nhiên &amp; Ẩm thực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34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08:00  Sông Hương boat (80k₫, 1.5h)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10:00  Chợ Đông Ba (Free, 1h)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74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11:30  Bún Bò Huế O Phụng (35k₫, 45min)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94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13:30  Đồi Vọng Cảnh (Free, 1.5h)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▸ 15:30  Cầu Trường Tiền (Free, 30min)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0F1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Total: 10 stops  •  18.5 km  •  420k₫  •  Optimized by OR-Tools CVRPTW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Metrics đánh giá hiệu suất hệ thống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5176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Itinerary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~8-15s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End-to-end pipeline</a:t>
            </a:r>
            <a:br/>
            <a:r>
              <a:t>(L2+L3+L4)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65176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103120"/>
            <a:ext cx="26517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Re-route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~3-5s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JIT single-day</a:t>
            </a:r>
            <a:br/>
            <a:r>
              <a:t>re-optimization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65176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517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Route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↓ 25-40%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Travel distance</a:t>
            </a:r>
            <a:br/>
            <a:r>
              <a:t>vs manual planning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103120"/>
            <a:ext cx="265176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103120"/>
            <a:ext cx="26517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POI Relevance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85%+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Semantic match</a:t>
            </a:r>
            <a:br/>
            <a:r>
              <a:t>vs user intent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Key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Đóng góp chính của đề tài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515600" cy="960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828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🤖  NLP → Itinerary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Tự động chuyển prompt tiếng Việt thành ràng buộc tối ưu hóa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515600" cy="960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828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🔍  Hybrid Semantic + Spatial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Kết hợp vector similarity với geographic filtering trên PostGIS + pgvector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0515600" cy="960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18288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89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⚡  Dynamic Multi-day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2-stage CVRPTW solver: allocation + routing bằng OR-Tools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515600" cy="960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394960"/>
            <a:ext cx="1828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4864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🔄  Real-time JIT Re-routing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897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Virtual Depot re-optimization từ GPS hiện tại, response &lt; 5s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Limitations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389120"/>
          </a:xfrm>
          <a:prstGeom prst="roundRect">
            <a:avLst/>
          </a:prstGeom>
          <a:solidFill>
            <a:srgbClr val="1E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Segoe UI"/>
              </a:defRPr>
            </a:pPr>
            <a:r>
              <a:t>⚠️ 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Phụ thuộc OSRM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LLM có thể hallucinate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Background location chưa auto-trigger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Chưa hoàn thiện FCM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Cần thêm integration test xuyên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29200" cy="4389120"/>
          </a:xfrm>
          <a:prstGeom prst="roundRect">
            <a:avLst/>
          </a:prstGeom>
          <a:solidFill>
            <a:srgbClr val="0F1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🚀 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Auto-trigger reroute via geofence/delay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Weather-aware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Hotel/booking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Crowd prediction &amp; avoidance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RL-based personalization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89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→ Observability dashboard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286000"/>
            <a:ext cx="4114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377440"/>
            <a:ext cx="32004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💬  Điểm khác biệt kỹ thuật lớn nhất so với app du lịch thông thường?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💬  Khi nào hệ thống dùng fallback và ảnh hưởng chất lượng route?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💬  Lộ trình chuyển từ POC sang production?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